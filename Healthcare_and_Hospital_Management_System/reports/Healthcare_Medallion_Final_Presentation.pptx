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Healthcare &amp; Hospital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End-to-End Medallion Architecture</a:t>
            </a:r>
          </a:p>
          <a:p>
            <a:pPr>
              <a:defRPr sz="2200"/>
            </a:pPr>
            <a:r>
              <a:t>Internship Final Submission</a:t>
            </a:r>
          </a:p>
          <a:p>
            <a:pPr>
              <a:defRPr sz="2200"/>
            </a:pPr>
            <a:r>
              <a:t>PySpark • Databricks • Delta Lake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Healthcare data is fragmented across systems.</a:t>
            </a:r>
          </a:p>
          <a:p>
            <a:pPr>
              <a:defRPr sz="2200"/>
            </a:pPr>
            <a:r>
              <a:t>Need a governed single source of truth.</a:t>
            </a:r>
          </a:p>
          <a:p>
            <a:pPr>
              <a:defRPr sz="2200"/>
            </a:pPr>
            <a:r>
              <a:t>Need reliable KPI reporting and auditability.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Metadata-driven ingestion</a:t>
            </a:r>
          </a:p>
          <a:p>
            <a:pPr>
              <a:defRPr sz="2200"/>
            </a:pPr>
            <a:r>
              <a:t>Bronze → Silver → Gold</a:t>
            </a:r>
          </a:p>
          <a:p>
            <a:pPr>
              <a:defRPr sz="2200"/>
            </a:pPr>
            <a:r>
              <a:t>Data quality and referential integrity</a:t>
            </a:r>
          </a:p>
          <a:p>
            <a:pPr>
              <a:defRPr sz="2200"/>
            </a:pPr>
            <a:r>
              <a:t>SCD Type 2 patient history</a:t>
            </a:r>
          </a:p>
          <a:p>
            <a:pPr>
              <a:defRPr sz="2200"/>
            </a:pPr>
            <a:r>
              <a:t>Governance and audit controls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CSV → Landing → Bronze Delta → Silver Delta → Gold Delta → BI/SQL</a:t>
            </a:r>
          </a:p>
          <a:p>
            <a:pPr>
              <a:defRPr sz="2200"/>
            </a:pPr>
            <a:r>
              <a:t>Ops layer: metadata + audit + DQ + quarantine</a:t>
            </a:r>
          </a:p>
          <a:p>
            <a:pPr>
              <a:defRPr sz="2200"/>
            </a:pPr>
            <a:r>
              <a:t>Databricks Workflows orchestrate daily processing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Actual Supplied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patients.csv — 50 rows</a:t>
            </a:r>
          </a:p>
          <a:p>
            <a:pPr>
              <a:defRPr sz="2200"/>
            </a:pPr>
            <a:r>
              <a:t>appointments.csv — 200 rows</a:t>
            </a:r>
          </a:p>
          <a:p>
            <a:pPr>
              <a:defRPr sz="2200"/>
            </a:pPr>
            <a:r>
              <a:t>billing.csv — 200 rows</a:t>
            </a:r>
          </a:p>
          <a:p>
            <a:pPr>
              <a:defRPr sz="2200"/>
            </a:pPr>
            <a:r>
              <a:t>doctors.csv — 10 rows</a:t>
            </a:r>
          </a:p>
          <a:p>
            <a:pPr>
              <a:defRPr sz="2200"/>
            </a:pPr>
            <a:r>
              <a:t>treatments.csv — 200 rows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PDD vs Actual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PDD expects lab_results and medications; they were not supplied.</a:t>
            </a:r>
          </a:p>
          <a:p>
            <a:pPr>
              <a:defRPr sz="2200"/>
            </a:pPr>
            <a:r>
              <a:t>PDD billing claims uses claim status; actual billing has payment status.</a:t>
            </a:r>
          </a:p>
          <a:p>
            <a:pPr>
              <a:defRPr sz="2200"/>
            </a:pPr>
            <a:r>
              <a:t>Missing KPIs are explicitly marked unavailable — no fabricated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Bronze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Raw preservation</a:t>
            </a:r>
          </a:p>
          <a:p>
            <a:pPr>
              <a:defRPr sz="2200"/>
            </a:pPr>
            <a:r>
              <a:t>Metadata columns</a:t>
            </a:r>
          </a:p>
          <a:p>
            <a:pPr>
              <a:defRPr sz="2200"/>
            </a:pPr>
            <a:r>
              <a:t>Record hashes</a:t>
            </a:r>
          </a:p>
          <a:p>
            <a:pPr>
              <a:defRPr sz="2200"/>
            </a:pPr>
            <a:r>
              <a:t>Schema validation</a:t>
            </a:r>
          </a:p>
          <a:p>
            <a:pPr>
              <a:defRPr sz="2200"/>
            </a:pPr>
            <a:r>
              <a:t>Retry + quarantine</a:t>
            </a:r>
          </a:p>
          <a:p>
            <a:pPr>
              <a:defRPr sz="2200"/>
            </a:pPr>
            <a:r>
              <a:t>Audit logging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Silver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Cleansing and validation</a:t>
            </a:r>
          </a:p>
          <a:p>
            <a:pPr>
              <a:defRPr sz="2200"/>
            </a:pPr>
            <a:r>
              <a:t>Cross-source joins</a:t>
            </a:r>
          </a:p>
          <a:p>
            <a:pPr>
              <a:defRPr sz="2200"/>
            </a:pPr>
            <a:r>
              <a:t>SHA-256 PII masking</a:t>
            </a:r>
          </a:p>
          <a:p>
            <a:pPr>
              <a:defRPr sz="2200"/>
            </a:pPr>
            <a:r>
              <a:t>No-show flag</a:t>
            </a:r>
          </a:p>
          <a:p>
            <a:pPr>
              <a:defRPr sz="2200"/>
            </a:pPr>
            <a:r>
              <a:t>Real patient SCD Type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Gold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KPI summary</a:t>
            </a:r>
          </a:p>
          <a:p>
            <a:pPr>
              <a:defRPr sz="2200"/>
            </a:pPr>
            <a:r>
              <a:t>Monthly appointment trends</a:t>
            </a:r>
          </a:p>
          <a:p>
            <a:pPr>
              <a:defRPr sz="2200"/>
            </a:pPr>
            <a:r>
              <a:t>Doctor workload</a:t>
            </a:r>
          </a:p>
          <a:p>
            <a:pPr>
              <a:defRPr sz="2200"/>
            </a:pPr>
            <a:r>
              <a:t>Treatment summary</a:t>
            </a:r>
          </a:p>
          <a:p>
            <a:pPr>
              <a:defRPr sz="2200"/>
            </a:pPr>
            <a:r>
              <a:t>Billing summary</a:t>
            </a:r>
          </a:p>
          <a:p>
            <a:pPr>
              <a:defRPr sz="2200"/>
            </a:pPr>
            <a:r>
              <a:t>PDD KPI gap table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 &amp;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Null checks</a:t>
            </a:r>
          </a:p>
          <a:p>
            <a:pPr>
              <a:defRPr sz="2200"/>
            </a:pPr>
            <a:r>
              <a:t>Duplicate checks</a:t>
            </a:r>
          </a:p>
          <a:p>
            <a:pPr>
              <a:defRPr sz="2200"/>
            </a:pPr>
            <a:r>
              <a:t>Categorical/date/numeric rules</a:t>
            </a:r>
          </a:p>
          <a:p>
            <a:pPr>
              <a:defRPr sz="2200"/>
            </a:pPr>
            <a:r>
              <a:t>Foreign-key checks</a:t>
            </a:r>
          </a:p>
          <a:p>
            <a:pPr>
              <a:defRPr sz="2200"/>
            </a:pPr>
            <a:r>
              <a:t>DQ scoring</a:t>
            </a:r>
          </a:p>
          <a:p>
            <a:pPr>
              <a:defRPr sz="2200"/>
            </a:pPr>
            <a:r>
              <a:t>Quarantine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Actual KPI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No-show rate: 26.00%</a:t>
            </a:r>
          </a:p>
          <a:p>
            <a:pPr>
              <a:defRPr sz="2200"/>
            </a:pPr>
            <a:r>
              <a:t>Completion rate: 23.00%</a:t>
            </a:r>
          </a:p>
          <a:p>
            <a:pPr>
              <a:defRPr sz="2200"/>
            </a:pPr>
            <a:r>
              <a:t>Cancellation rate: 25.50%</a:t>
            </a:r>
          </a:p>
          <a:p>
            <a:pPr>
              <a:defRPr sz="2200"/>
            </a:pPr>
            <a:r>
              <a:t>Payment success proxy: 32.00%</a:t>
            </a:r>
          </a:p>
          <a:p>
            <a:pPr>
              <a:defRPr sz="2200"/>
            </a:pPr>
            <a:r>
              <a:t>Total billed: 551249.85</a:t>
            </a:r>
          </a:p>
          <a:p>
            <a:pPr>
              <a:defRPr sz="2200"/>
            </a:pPr>
            <a:r>
              <a:t>Average treatment cost: 2756.25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SHA-256 sensitive-field protection</a:t>
            </a:r>
          </a:p>
          <a:p>
            <a:pPr>
              <a:defRPr sz="2200"/>
            </a:pPr>
            <a:r>
              <a:t>Unity Catalog/RBAC deployment artifacts</a:t>
            </a:r>
          </a:p>
          <a:p>
            <a:pPr>
              <a:defRPr sz="2200"/>
            </a:pPr>
            <a:r>
              <a:t>Audit log</a:t>
            </a:r>
          </a:p>
          <a:p>
            <a:pPr>
              <a:defRPr sz="2200"/>
            </a:pPr>
            <a:r>
              <a:t>Delta ACID</a:t>
            </a:r>
          </a:p>
          <a:p>
            <a:pPr>
              <a:defRPr sz="2200"/>
            </a:pPr>
            <a:r>
              <a:t>Retention and GRS guidance</a:t>
            </a:r>
          </a:p>
          <a:p>
            <a:pPr>
              <a:defRPr sz="2200"/>
            </a:pPr>
            <a:r>
              <a:t>TLS/encryption deployment guidance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Orchestration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Databricks Asset Bundle YAML included</a:t>
            </a:r>
          </a:p>
          <a:p>
            <a:pPr>
              <a:defRPr sz="2200"/>
            </a:pPr>
            <a:r>
              <a:t>Daily 05:00 UTC schedule artifact</a:t>
            </a:r>
          </a:p>
          <a:p>
            <a:pPr>
              <a:defRPr sz="2200"/>
            </a:pPr>
            <a:r>
              <a:t>Bronze retries</a:t>
            </a:r>
          </a:p>
          <a:p>
            <a:pPr>
              <a:defRPr sz="2200"/>
            </a:pPr>
            <a:r>
              <a:t>Parallel Silver tasks</a:t>
            </a:r>
          </a:p>
          <a:p>
            <a:pPr>
              <a:defRPr sz="2200"/>
            </a:pPr>
            <a:r>
              <a:t>Gold after Silver dependencies</a:t>
            </a:r>
          </a:p>
          <a:p>
            <a:pPr>
              <a:defRPr sz="2200"/>
            </a:pPr>
            <a:r>
              <a:t>Audit after Gold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No-show rate is above the PDD target of &lt;10%.</a:t>
            </a:r>
          </a:p>
          <a:p>
            <a:pPr>
              <a:defRPr sz="2200"/>
            </a:pPr>
            <a:r>
              <a:t>Appointment utilization can be improved.</a:t>
            </a:r>
          </a:p>
          <a:p>
            <a:pPr>
              <a:defRPr sz="2200"/>
            </a:pPr>
            <a:r>
              <a:t>Payment status should not be confused with claim approval.</a:t>
            </a:r>
          </a:p>
          <a:p>
            <a:pPr>
              <a:defRPr sz="2200"/>
            </a:pPr>
            <a:r>
              <a:t>Treatment and doctor workload analytics are available.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Core PDD architecture implemented.</a:t>
            </a:r>
          </a:p>
          <a:p>
            <a:pPr>
              <a:defRPr sz="2200"/>
            </a:pPr>
            <a:r>
              <a:t>Actual data preserved and validated.</a:t>
            </a:r>
          </a:p>
          <a:p>
            <a:pPr>
              <a:defRPr sz="2200"/>
            </a:pPr>
            <a:r>
              <a:t>Missing source-dependent KPIs are transparently documented.</a:t>
            </a:r>
          </a:p>
          <a:p>
            <a:pPr>
              <a:defRPr sz="2200"/>
            </a:pPr>
            <a:r>
              <a:t>Ready for Databricks deployment after environment configuration.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